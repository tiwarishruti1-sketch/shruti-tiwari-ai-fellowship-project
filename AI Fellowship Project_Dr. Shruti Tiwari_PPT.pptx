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96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xmlns="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xmlns="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xmlns="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xmlns="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xmlns="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xmlns="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xmlns="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xmlns="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xmlns="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xmlns="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xmlns="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xmlns="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xmlns="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xmlns="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xmlns="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xmlns="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xmlns="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xmlns="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 smtClean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Dr. Shruti Tiwari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xmlns="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Faculty Name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xmlns="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xmlns="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 smtClean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tiwarishruti1@gmail.com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xmlns="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abc@xyz.com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xmlns="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xmlns="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xmlns="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667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 smtClean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Uma </a:t>
              </a:r>
              <a:r>
                <a:rPr lang="en-US" sz="1000" dirty="0" err="1" smtClean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Maheshwari</a:t>
              </a:r>
              <a:endPara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endParaRP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xmlns="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Guide Name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xmlns="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xmlns="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xmlns="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xmlns="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xmlns="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xmlns="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xmlns="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xmlns="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8849028-F25C-7DA0-DE56-0DC142EECABD}"/>
              </a:ext>
            </a:extLst>
          </p:cNvPr>
          <p:cNvSpPr txBox="1"/>
          <p:nvPr/>
        </p:nvSpPr>
        <p:spPr>
          <a:xfrm>
            <a:off x="125239" y="1082801"/>
            <a:ext cx="644093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Objective:</a:t>
            </a:r>
            <a:r>
              <a:rPr lang="en-IN" sz="1600" dirty="0"/>
              <a:t> To address faculty workload imbalance in design education (studio critiques, lab setup, portfolio evaluations) using data analytics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Tools &amp; Technologies:</a:t>
            </a:r>
            <a:r>
              <a:rPr lang="en-IN" sz="1600" dirty="0"/>
              <a:t> Microsoft Excel (Cleaning, Pivot Tables, SUMIF/COUNTIF) &amp; Microsoft </a:t>
            </a:r>
            <a:r>
              <a:rPr lang="en-IN" sz="1600" dirty="0" err="1"/>
              <a:t>Copilot</a:t>
            </a:r>
            <a:r>
              <a:rPr lang="en-IN" sz="1600" dirty="0"/>
              <a:t> (AI-assisted insights</a:t>
            </a:r>
            <a:r>
              <a:rPr lang="en-IN" sz="1600" dirty="0" smtClean="0"/>
              <a:t>).</a:t>
            </a:r>
          </a:p>
          <a:p>
            <a:endParaRPr lang="en-IN" sz="1600" dirty="0"/>
          </a:p>
          <a:p>
            <a:r>
              <a:rPr lang="en-IN" sz="1600" b="1" dirty="0"/>
              <a:t>Process:</a:t>
            </a:r>
            <a:r>
              <a:rPr lang="en-IN" sz="1600" dirty="0"/>
              <a:t> Cleaned raw faculty data (45 records, 5 specializations), </a:t>
            </a:r>
            <a:r>
              <a:rPr lang="en-IN" sz="1600" dirty="0" err="1"/>
              <a:t>analyzed</a:t>
            </a:r>
            <a:r>
              <a:rPr lang="en-IN" sz="1600" dirty="0"/>
              <a:t> workload patterns, and generated AI summaries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Key Highlight:</a:t>
            </a:r>
            <a:r>
              <a:rPr lang="en-IN" sz="1600" dirty="0"/>
              <a:t> Industrial Design faculty showed 40% higher lab setup time. </a:t>
            </a:r>
            <a:r>
              <a:rPr lang="en-IN" sz="1600" dirty="0" err="1"/>
              <a:t>Copilot</a:t>
            </a:r>
            <a:r>
              <a:rPr lang="en-IN" sz="1600" dirty="0"/>
              <a:t> reduced report generation time from 2 hours to 20 minutes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Expected Outcome:</a:t>
            </a:r>
            <a:r>
              <a:rPr lang="en-IN" sz="1600" dirty="0"/>
              <a:t> A replicable, data-driven framework for transparent academic governance aligned with NEP 2020.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xmlns="" id="{AA7F05EE-340D-A58A-BAD0-FB0660B2D339}"/>
              </a:ext>
            </a:extLst>
          </p:cNvPr>
          <p:cNvSpPr/>
          <p:nvPr/>
        </p:nvSpPr>
        <p:spPr>
          <a:xfrm>
            <a:off x="6643990" y="1082801"/>
            <a:ext cx="2240929" cy="2448339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355" y="873760"/>
            <a:ext cx="3134036" cy="3134036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E76AC24-5CB7-D860-6A01-E6D8ABD38610}"/>
              </a:ext>
            </a:extLst>
          </p:cNvPr>
          <p:cNvSpPr txBox="1"/>
          <p:nvPr/>
        </p:nvSpPr>
        <p:spPr>
          <a:xfrm>
            <a:off x="125238" y="1196502"/>
            <a:ext cx="607128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Core Problem:</a:t>
            </a:r>
            <a:r>
              <a:rPr lang="en-IN" sz="1600" dirty="0"/>
              <a:t> Fragmented, manual tracking of design-specific workload (studio, critiques, lab setup) leading to burnout and poor resource planning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Significance:</a:t>
            </a:r>
            <a:r>
              <a:rPr lang="en-IN" sz="1600" dirty="0"/>
              <a:t> Unlike theory programs, design pedagogy requires intensive hands-on contact hours. Without analysis, leaders cannot see imbalances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Affected Users:</a:t>
            </a:r>
            <a:r>
              <a:rPr lang="en-IN" sz="1600" dirty="0"/>
              <a:t> Faculty (burnout risk), Students (poor mentorship), HOD/Dean (accreditation risks for NAAC/NIRF</a:t>
            </a:r>
            <a:r>
              <a:rPr lang="en-IN" sz="1600" dirty="0" smtClean="0"/>
              <a:t>).</a:t>
            </a:r>
          </a:p>
          <a:p>
            <a:endParaRPr lang="en-IN" sz="1600" dirty="0"/>
          </a:p>
          <a:p>
            <a:r>
              <a:rPr lang="en-IN" sz="1600" b="1" dirty="0"/>
              <a:t>Limitations of Existing Approaches:</a:t>
            </a:r>
            <a:r>
              <a:rPr lang="en-IN" sz="1600" dirty="0"/>
              <a:t> Basic spreadsheets with no analytical capability; no AI-assisted reporting; generic systems ignore design-specific tasks (e.g., 3D printer/laser cutter setup).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217" y="1123616"/>
            <a:ext cx="3321023" cy="3614525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5925118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 smtClean="0"/>
              <a:t>The </a:t>
            </a:r>
            <a:r>
              <a:rPr lang="en-IN" sz="1600" b="1" dirty="0"/>
              <a:t>Solution:</a:t>
            </a:r>
            <a:r>
              <a:rPr lang="en-IN" sz="1600" dirty="0"/>
              <a:t> An "Intelligent Faculty Load Optimizer" using Excel &amp; </a:t>
            </a:r>
            <a:r>
              <a:rPr lang="en-IN" sz="1600" dirty="0" err="1"/>
              <a:t>Copilot</a:t>
            </a:r>
            <a:r>
              <a:rPr lang="en-IN" sz="1600" dirty="0"/>
              <a:t>.</a:t>
            </a:r>
          </a:p>
          <a:p>
            <a:r>
              <a:rPr lang="en-IN" sz="1600" b="1" dirty="0"/>
              <a:t>Methodology:</a:t>
            </a:r>
            <a:endParaRPr lang="en-IN" sz="1600" dirty="0"/>
          </a:p>
          <a:p>
            <a:pPr lvl="1"/>
            <a:r>
              <a:rPr lang="en-IN" sz="1600" dirty="0" smtClean="0"/>
              <a:t>1. Collect </a:t>
            </a:r>
            <a:r>
              <a:rPr lang="en-IN" sz="1600" dirty="0"/>
              <a:t>design-specific data (5 specializations).</a:t>
            </a:r>
          </a:p>
          <a:p>
            <a:pPr lvl="1"/>
            <a:r>
              <a:rPr lang="en-IN" sz="1600" dirty="0" smtClean="0"/>
              <a:t>2. Clean </a:t>
            </a:r>
            <a:r>
              <a:rPr lang="en-IN" sz="1600" dirty="0"/>
              <a:t>data (Remove duplicates, handle missing values, standardize names).</a:t>
            </a:r>
          </a:p>
          <a:p>
            <a:pPr lvl="1"/>
            <a:r>
              <a:rPr lang="en-IN" sz="1600" dirty="0" smtClean="0"/>
              <a:t>3. </a:t>
            </a:r>
            <a:r>
              <a:rPr lang="en-IN" sz="1600" dirty="0" err="1" smtClean="0"/>
              <a:t>Analyze</a:t>
            </a:r>
            <a:r>
              <a:rPr lang="en-IN" sz="1600" dirty="0" smtClean="0"/>
              <a:t> </a:t>
            </a:r>
            <a:r>
              <a:rPr lang="en-IN" sz="1600" dirty="0"/>
              <a:t>using Pivot Tables, SUMIF, COUNTIF.</a:t>
            </a:r>
          </a:p>
          <a:p>
            <a:pPr lvl="1"/>
            <a:r>
              <a:rPr lang="en-IN" sz="1600" dirty="0"/>
              <a:t>Generate dashboards &amp; AI summaries via </a:t>
            </a:r>
            <a:r>
              <a:rPr lang="en-IN" sz="1600" dirty="0" err="1"/>
              <a:t>Copilot</a:t>
            </a:r>
            <a:r>
              <a:rPr lang="en-IN" sz="1600" dirty="0"/>
              <a:t>.</a:t>
            </a:r>
          </a:p>
          <a:p>
            <a:r>
              <a:rPr lang="en-IN" sz="1600" b="1" dirty="0"/>
              <a:t>Key Benefits:</a:t>
            </a:r>
            <a:endParaRPr lang="en-IN" sz="1600" dirty="0"/>
          </a:p>
          <a:p>
            <a:pPr lvl="1"/>
            <a:r>
              <a:rPr lang="en-IN" sz="1600" dirty="0" smtClean="0"/>
              <a:t>1. Design-specific </a:t>
            </a:r>
            <a:r>
              <a:rPr lang="en-IN" sz="1600" dirty="0"/>
              <a:t>relevance (Captures critiques, lab setup, portfolio </a:t>
            </a:r>
            <a:r>
              <a:rPr lang="en-IN" sz="1600" dirty="0" err="1"/>
              <a:t>evals</a:t>
            </a:r>
            <a:r>
              <a:rPr lang="en-IN" sz="1600" dirty="0"/>
              <a:t>).</a:t>
            </a:r>
          </a:p>
          <a:p>
            <a:pPr lvl="1"/>
            <a:r>
              <a:rPr lang="en-IN" sz="1600" dirty="0" smtClean="0"/>
              <a:t>2. AI-powered </a:t>
            </a:r>
            <a:r>
              <a:rPr lang="en-IN" sz="1600" dirty="0"/>
              <a:t>speed (Automated summaries &amp; redistribution recommendations).</a:t>
            </a:r>
          </a:p>
          <a:p>
            <a:pPr lvl="1"/>
            <a:r>
              <a:rPr lang="en-IN" sz="1600" dirty="0" smtClean="0"/>
              <a:t>3. Cost-effective </a:t>
            </a:r>
            <a:r>
              <a:rPr lang="en-IN" sz="1600" dirty="0"/>
              <a:t>(Uses existing Microsoft 365 licenses).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5408" y="1707984"/>
            <a:ext cx="4251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Faculty records from </a:t>
            </a:r>
            <a:r>
              <a:rPr lang="en-IN" sz="1600" dirty="0" err="1">
                <a:solidFill>
                  <a:srgbClr val="0F1115"/>
                </a:solidFill>
                <a:latin typeface="Lato" panose="020F0502020204030203"/>
              </a:rPr>
              <a:t>Parul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 Institute of Design (Graphic, Industrial, Fashion, UX/UI, Interior Design). Raw CSV files.</a:t>
            </a:r>
            <a:endParaRPr lang="en-IN" sz="1600" dirty="0">
              <a:latin typeface="Lato" panose="020F0502020204030203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70248" y="1790721"/>
            <a:ext cx="42208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Remove duplicates, standardize categories (e.g., "UX" → "UX/UI"), Pivot Tables, SUMIF for workload totals.</a:t>
            </a:r>
            <a:endParaRPr lang="en-IN" sz="1600" dirty="0">
              <a:latin typeface="Lato" panose="020F050202020403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5408" y="3523304"/>
            <a:ext cx="4251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Microsoft </a:t>
            </a:r>
            <a:r>
              <a:rPr lang="en-IN" sz="1600" dirty="0" err="1">
                <a:solidFill>
                  <a:srgbClr val="0F1115"/>
                </a:solidFill>
                <a:latin typeface="Lato" panose="020F0502020204030203"/>
              </a:rPr>
              <a:t>Copilot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 prompts to generate executive summaries, identify overburdened faculty, and suggest redistribution.</a:t>
            </a:r>
            <a:endParaRPr lang="en-IN" sz="1600" dirty="0">
              <a:latin typeface="Lato" panose="020F05020202040302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17233" y="3590529"/>
            <a:ext cx="422083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Interactive bar charts (workload by specialization), stacked bar charts (time allocation), and a PDF summary report.</a:t>
            </a:r>
            <a:endParaRPr lang="en-IN" dirty="0">
              <a:latin typeface="Lato" panose="020F0502020204030203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5487" y="2243651"/>
            <a:ext cx="2869173" cy="2727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IN" sz="1200" b="1" dirty="0">
                <a:latin typeface="Lato" panose="020F0502020204030203"/>
              </a:rPr>
              <a:t>Demo Title:</a:t>
            </a:r>
            <a:r>
              <a:rPr lang="en-IN" sz="1200" dirty="0">
                <a:latin typeface="Lato" panose="020F0502020204030203"/>
              </a:rPr>
              <a:t> Data Cleaning &amp; Standardization</a:t>
            </a:r>
          </a:p>
          <a:p>
            <a:r>
              <a:rPr lang="en-IN" sz="1200" b="1" dirty="0">
                <a:latin typeface="Lato" panose="020F0502020204030203"/>
              </a:rPr>
              <a:t>Description:</a:t>
            </a:r>
            <a:r>
              <a:rPr lang="en-IN" sz="1200" dirty="0">
                <a:latin typeface="Lato" panose="020F0502020204030203"/>
              </a:rPr>
              <a:t> This demo shows the "Before vs. After" of the raw dataset.</a:t>
            </a:r>
          </a:p>
          <a:p>
            <a:r>
              <a:rPr lang="en-IN" sz="1200" b="1" dirty="0">
                <a:latin typeface="Lato" panose="020F0502020204030203"/>
              </a:rPr>
              <a:t>Key Features:</a:t>
            </a:r>
            <a:endParaRPr lang="en-IN" sz="1200" dirty="0">
              <a:latin typeface="Lato" panose="020F0502020204030203"/>
            </a:endParaRPr>
          </a:p>
          <a:p>
            <a:pPr lvl="1"/>
            <a:r>
              <a:rPr lang="en-IN" sz="1200" dirty="0">
                <a:latin typeface="Lato" panose="020F0502020204030203"/>
              </a:rPr>
              <a:t>Removal of 2 duplicate faculty entries.</a:t>
            </a:r>
          </a:p>
          <a:p>
            <a:pPr lvl="1"/>
            <a:r>
              <a:rPr lang="en-IN" sz="1200" dirty="0">
                <a:latin typeface="Lato" panose="020F0502020204030203"/>
              </a:rPr>
              <a:t>Handling of 6 missing values (filled with 0).</a:t>
            </a:r>
          </a:p>
          <a:p>
            <a:pPr lvl="1"/>
            <a:r>
              <a:rPr lang="en-IN" sz="1200" dirty="0">
                <a:latin typeface="Lato" panose="020F0502020204030203"/>
              </a:rPr>
              <a:t>Standardization of specializations (e.g., fixing "UX", "UI/UX" to "UX/UI Design").</a:t>
            </a:r>
          </a:p>
          <a:p>
            <a:r>
              <a:rPr lang="en-IN" sz="1200" b="1" dirty="0">
                <a:latin typeface="Lato" panose="020F0502020204030203"/>
              </a:rPr>
              <a:t>Result:</a:t>
            </a:r>
            <a:r>
              <a:rPr lang="en-IN" sz="1200" dirty="0">
                <a:latin typeface="Lato" panose="020F0502020204030203"/>
              </a:rPr>
              <a:t> A clean, analysis-ready dataset of 43 faculty records.</a:t>
            </a:r>
            <a:endParaRPr lang="en-IN" dirty="0">
              <a:latin typeface="Lato" panose="020F0502020204030203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5176" y="176137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54096" y="2172858"/>
            <a:ext cx="2971800" cy="2797976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IN" sz="1200" b="1" dirty="0">
                <a:latin typeface="Lato" panose="020F0502020204030203"/>
              </a:rPr>
              <a:t>Demo Title:</a:t>
            </a:r>
            <a:r>
              <a:rPr lang="en-IN" sz="1200" dirty="0">
                <a:latin typeface="Lato" panose="020F0502020204030203"/>
              </a:rPr>
              <a:t> Workload Imbalance Dashboard (Excel Charts)</a:t>
            </a:r>
          </a:p>
          <a:p>
            <a:r>
              <a:rPr lang="en-IN" sz="1200" b="1" dirty="0">
                <a:latin typeface="Lato" panose="020F0502020204030203"/>
              </a:rPr>
              <a:t>Description:</a:t>
            </a:r>
            <a:r>
              <a:rPr lang="en-IN" sz="1200" dirty="0">
                <a:latin typeface="Lato" panose="020F0502020204030203"/>
              </a:rPr>
              <a:t> Visualization of total weekly hours across five design specializations.</a:t>
            </a:r>
          </a:p>
          <a:p>
            <a:r>
              <a:rPr lang="en-IN" sz="1200" b="1" dirty="0">
                <a:latin typeface="Lato" panose="020F0502020204030203"/>
              </a:rPr>
              <a:t>Key Features:</a:t>
            </a:r>
            <a:endParaRPr lang="en-IN" sz="1200" dirty="0">
              <a:latin typeface="Lato" panose="020F0502020204030203"/>
            </a:endParaRPr>
          </a:p>
          <a:p>
            <a:pPr lvl="1"/>
            <a:r>
              <a:rPr lang="en-IN" sz="1200" dirty="0">
                <a:latin typeface="Lato" panose="020F0502020204030203"/>
              </a:rPr>
              <a:t>Bar chart comparing average workload (Industrial Design: 44 hrs/week vs. Graphic Design: 34 hrs/week).</a:t>
            </a:r>
          </a:p>
          <a:p>
            <a:pPr lvl="1"/>
            <a:r>
              <a:rPr lang="en-IN" sz="1200" dirty="0" smtClean="0">
                <a:latin typeface="Lato" panose="020F0502020204030203"/>
              </a:rPr>
              <a:t>Heat map </a:t>
            </a:r>
            <a:r>
              <a:rPr lang="en-IN" sz="1200" dirty="0">
                <a:latin typeface="Lato" panose="020F0502020204030203"/>
              </a:rPr>
              <a:t>highlighting 4 faculty members exceeding 45 hours/week.</a:t>
            </a:r>
          </a:p>
          <a:p>
            <a:r>
              <a:rPr lang="en-IN" sz="1200" b="1" dirty="0">
                <a:latin typeface="Lato" panose="020F0502020204030203"/>
              </a:rPr>
              <a:t>Result:</a:t>
            </a:r>
            <a:r>
              <a:rPr lang="en-IN" sz="1200" dirty="0">
                <a:latin typeface="Lato" panose="020F0502020204030203"/>
              </a:rPr>
              <a:t> Immediate identification that Industrial Design and Fashion Design are overburdened (58% of excess hours).</a:t>
            </a:r>
            <a:endParaRPr lang="en-IN" dirty="0">
              <a:latin typeface="Lato" panose="020F0502020204030203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45536" y="176137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31734" y="2223660"/>
            <a:ext cx="2894756" cy="27471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IN" sz="1200" b="1" dirty="0">
                <a:latin typeface="Lato" panose="020F0502020204030203"/>
              </a:rPr>
              <a:t>Demo Title:</a:t>
            </a:r>
            <a:r>
              <a:rPr lang="en-IN" sz="1200" dirty="0">
                <a:latin typeface="Lato" panose="020F0502020204030203"/>
              </a:rPr>
              <a:t> Microsoft </a:t>
            </a:r>
            <a:r>
              <a:rPr lang="en-IN" sz="1200" dirty="0" err="1">
                <a:latin typeface="Lato" panose="020F0502020204030203"/>
              </a:rPr>
              <a:t>Copilot</a:t>
            </a:r>
            <a:r>
              <a:rPr lang="en-IN" sz="1200" dirty="0">
                <a:latin typeface="Lato" panose="020F0502020204030203"/>
              </a:rPr>
              <a:t> Integration</a:t>
            </a:r>
          </a:p>
          <a:p>
            <a:r>
              <a:rPr lang="en-IN" sz="1200" b="1" dirty="0">
                <a:latin typeface="Lato" panose="020F0502020204030203"/>
              </a:rPr>
              <a:t>Description:</a:t>
            </a:r>
            <a:r>
              <a:rPr lang="en-IN" sz="1200" dirty="0">
                <a:latin typeface="Lato" panose="020F0502020204030203"/>
              </a:rPr>
              <a:t> Using AI to generate actionable academic policy recommendations.</a:t>
            </a:r>
          </a:p>
          <a:p>
            <a:r>
              <a:rPr lang="en-IN" sz="1200" b="1" dirty="0">
                <a:latin typeface="Lato" panose="020F0502020204030203"/>
              </a:rPr>
              <a:t>Key Features:</a:t>
            </a:r>
            <a:endParaRPr lang="en-IN" sz="1200" dirty="0">
              <a:latin typeface="Lato" panose="020F0502020204030203"/>
            </a:endParaRPr>
          </a:p>
          <a:p>
            <a:pPr lvl="1"/>
            <a:r>
              <a:rPr lang="en-IN" sz="1200" b="1" dirty="0">
                <a:latin typeface="Lato" panose="020F0502020204030203"/>
              </a:rPr>
              <a:t>Prompt:</a:t>
            </a:r>
            <a:r>
              <a:rPr lang="en-IN" sz="1200" dirty="0">
                <a:latin typeface="Lato" panose="020F0502020204030203"/>
              </a:rPr>
              <a:t> </a:t>
            </a:r>
            <a:r>
              <a:rPr lang="en-IN" sz="1200" i="1" dirty="0">
                <a:latin typeface="Lato" panose="020F0502020204030203"/>
              </a:rPr>
              <a:t>"Summarize workload by specialization and suggest redistribution for the Dean."</a:t>
            </a:r>
            <a:endParaRPr lang="en-IN" sz="1200" dirty="0">
              <a:latin typeface="Lato" panose="020F0502020204030203"/>
            </a:endParaRPr>
          </a:p>
          <a:p>
            <a:pPr lvl="1"/>
            <a:r>
              <a:rPr lang="en-IN" sz="1200" dirty="0">
                <a:latin typeface="Lato" panose="020F0502020204030203"/>
              </a:rPr>
              <a:t>AI Output: Identified Lab Setup time as the primary driver of overload in Industrial Design.</a:t>
            </a:r>
          </a:p>
          <a:p>
            <a:r>
              <a:rPr lang="en-IN" sz="1200" b="1" dirty="0">
                <a:latin typeface="Lato" panose="020F0502020204030203"/>
              </a:rPr>
              <a:t>Result:</a:t>
            </a:r>
            <a:r>
              <a:rPr lang="en-IN" sz="1200" dirty="0">
                <a:latin typeface="Lato" panose="020F0502020204030203"/>
              </a:rPr>
              <a:t> Professional, ready-to-submit executive summary generated in under 45 seconds.</a:t>
            </a:r>
          </a:p>
        </p:txBody>
      </p:sp>
      <p:sp>
        <p:nvSpPr>
          <p:cNvPr id="20" name="Text 18"/>
          <p:cNvSpPr/>
          <p:nvPr/>
        </p:nvSpPr>
        <p:spPr>
          <a:xfrm>
            <a:off x="6131733" y="1796616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xmlns="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5128698" y="971550"/>
            <a:ext cx="3723472" cy="330935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5486" y="1190513"/>
            <a:ext cx="54192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Accomplishment: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Successfully built an AI-powered workload balancer specifically for </a:t>
            </a:r>
            <a:r>
              <a:rPr lang="en-IN" sz="1600" dirty="0" err="1">
                <a:solidFill>
                  <a:srgbClr val="0F1115"/>
                </a:solidFill>
                <a:latin typeface="Lato" panose="020F0502020204030203"/>
              </a:rPr>
              <a:t>Parul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 Institute of Design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.</a:t>
            </a:r>
          </a:p>
          <a:p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Key Results:</a:t>
            </a: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Industrial Design faculty have 40% higher lab setup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rgbClr val="0F1115"/>
                </a:solidFill>
                <a:latin typeface="Lato" panose="020F0502020204030203"/>
              </a:rPr>
              <a:t>Copilot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 reduced reporting time by ~83% (2 hours → 20 min).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Identified 4 "high-risk" faculty members exceeding 45 hrs/week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Value Added: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Provides the Dean/HOD with transparency, supports NAAC documentation, and aligns with NEP 2020 &amp; SDG 4 (Quality Education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).</a:t>
            </a: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948" y="879613"/>
            <a:ext cx="3570051" cy="33842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3247" y="1092973"/>
            <a:ext cx="575226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Real-time Integration: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Connect to Microsoft Forms or Power Automate for weekly faculty check-ins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Predictive Analytics: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Use Excel Forecast Sheet to predict future workload peaks (e.g., pre-accreditation rushes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Scalability: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Expand the framework to other creative disciplines (Architecture, Fine Arts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Advanced UI: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Build a Power Apps interactive dashboard for non-technical users to explore data without touching Excel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F1115"/>
                </a:solidFill>
                <a:latin typeface="Lato" panose="020F0502020204030203"/>
              </a:rPr>
              <a:t>Prompt Library: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 Develop a standardized prompt library for </a:t>
            </a:r>
            <a:r>
              <a:rPr lang="en-IN" sz="1600" dirty="0" err="1">
                <a:solidFill>
                  <a:srgbClr val="0F1115"/>
                </a:solidFill>
                <a:latin typeface="Lato" panose="020F0502020204030203"/>
              </a:rPr>
              <a:t>Copilot</a:t>
            </a:r>
            <a:r>
              <a:rPr lang="en-IN" sz="1600" dirty="0">
                <a:solidFill>
                  <a:srgbClr val="0F1115"/>
                </a:solidFill>
                <a:latin typeface="Lato" panose="020F0502020204030203"/>
              </a:rPr>
              <a:t> specific to design education governance</a:t>
            </a:r>
            <a:r>
              <a:rPr lang="en-IN" sz="1600" dirty="0" smtClean="0">
                <a:solidFill>
                  <a:srgbClr val="0F1115"/>
                </a:solidFill>
                <a:latin typeface="Lato" panose="020F0502020204030203"/>
              </a:rPr>
              <a:t>.</a:t>
            </a:r>
            <a:endParaRPr lang="en-IN" sz="1600" dirty="0">
              <a:solidFill>
                <a:srgbClr val="0F1115"/>
              </a:solidFill>
              <a:latin typeface="Lato" panose="020F0502020204030203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xmlns="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240</Words>
  <Application>Microsoft Office PowerPoint</Application>
  <PresentationFormat>On-screen Show (16:9)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Aileron</vt:lpstr>
      <vt:lpstr>Aileron Bold</vt:lpstr>
      <vt:lpstr>Aileron Ultra-Bold</vt:lpstr>
      <vt:lpstr>Arial</vt:lpstr>
      <vt:lpstr>Calibri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Shruti Tripathi</cp:lastModifiedBy>
  <cp:revision>31</cp:revision>
  <dcterms:created xsi:type="dcterms:W3CDTF">2026-02-18T09:17:23Z</dcterms:created>
  <dcterms:modified xsi:type="dcterms:W3CDTF">2026-04-09T08:55:01Z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